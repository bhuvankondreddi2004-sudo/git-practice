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notesMasterIdLst>
    <p:notesMasterId r:id="rId10"/>
  </p:notesMasterIdLst>
  <p:sldIdLst>
    <p:sldId id="256" r:id="rId2"/>
    <p:sldId id="258" r:id="rId3"/>
    <p:sldId id="276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12188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67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204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151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2430" y="1354138"/>
            <a:ext cx="5321501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162" y="831992"/>
            <a:ext cx="5896344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1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273" y="5372810"/>
            <a:ext cx="2364330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5043" y="612252"/>
            <a:ext cx="2069858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4329" y="5229983"/>
            <a:ext cx="1223795" cy="365030"/>
          </a:xfrm>
          <a:solidFill>
            <a:schemeClr val="bg2"/>
          </a:solidFill>
        </p:spPr>
        <p:txBody>
          <a:bodyPr rIns="182880"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8483" y="6029867"/>
            <a:ext cx="461318" cy="365125"/>
          </a:xfrm>
          <a:solidFill>
            <a:schemeClr val="bg2"/>
          </a:solidFill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1193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830" y="265729"/>
            <a:ext cx="1097827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30" y="1736177"/>
            <a:ext cx="1097827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681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99899" y="1090398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4646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2774" y="685800"/>
            <a:ext cx="637201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798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8504" y="5570290"/>
            <a:ext cx="4113727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678" y="508085"/>
            <a:ext cx="429260" cy="365125"/>
          </a:xfrm>
          <a:noFill/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6" y="508085"/>
            <a:ext cx="1203007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1964" y="612063"/>
            <a:ext cx="1486909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1339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99899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23" y="338328"/>
            <a:ext cx="8166513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597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2178" y="4754729"/>
            <a:ext cx="3083638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1619" y="447580"/>
            <a:ext cx="2477254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11083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056" y="6172185"/>
            <a:ext cx="10324068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983" y="365761"/>
            <a:ext cx="11531786" cy="5525653"/>
          </a:xfrm>
          <a:noFill/>
        </p:spPr>
        <p:txBody>
          <a:bodyPr anchor="t">
            <a:normAutofit/>
          </a:bodyPr>
          <a:lstStyle>
            <a:lvl1pPr>
              <a:defRPr sz="11497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68721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8882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562" y="685800"/>
            <a:ext cx="10181642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173" y="2043904"/>
            <a:ext cx="7465652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543" y="2720722"/>
            <a:ext cx="5645423" cy="249365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1996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257" y="569843"/>
            <a:ext cx="1470609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8790" y="2743202"/>
            <a:ext cx="6094413" cy="3467098"/>
          </a:xfrm>
        </p:spPr>
        <p:txBody>
          <a:bodyPr>
            <a:normAutofit/>
          </a:bodyPr>
          <a:lstStyle>
            <a:lvl1pPr marL="342797" indent="-342797">
              <a:buClr>
                <a:schemeClr val="accent2"/>
              </a:buClr>
              <a:buFont typeface="+mj-lt"/>
              <a:buAutoNum type="arabicPeriod"/>
              <a:defRPr sz="1799"/>
            </a:lvl1pPr>
            <a:lvl2pPr marL="799860" indent="-342797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6923" indent="-342797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97880" y="413627"/>
            <a:ext cx="1256411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291" y="413627"/>
            <a:ext cx="429260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747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8882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246" y="3415504"/>
            <a:ext cx="10817579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3204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268" y="182881"/>
            <a:ext cx="7928827" cy="2238587"/>
          </a:xfrm>
          <a:noFill/>
        </p:spPr>
        <p:txBody>
          <a:bodyPr anchor="t">
            <a:normAutofit/>
          </a:bodyPr>
          <a:lstStyle>
            <a:lvl1pPr>
              <a:defRPr sz="11996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476" y="3840480"/>
            <a:ext cx="6542220" cy="2536466"/>
          </a:xfrm>
        </p:spPr>
        <p:txBody>
          <a:bodyPr>
            <a:normAutofit/>
          </a:bodyPr>
          <a:lstStyle>
            <a:lvl1pPr marL="342797" indent="-342797">
              <a:buClr>
                <a:schemeClr val="accent2"/>
              </a:buClr>
              <a:buFont typeface="+mj-lt"/>
              <a:buAutoNum type="arabicPeriod"/>
              <a:defRPr sz="1799"/>
            </a:lvl1pPr>
            <a:lvl2pPr marL="799860" indent="-342797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6923" indent="-342797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1972" y="612381"/>
            <a:ext cx="1483841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0925" y="2756700"/>
            <a:ext cx="1256411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7625" y="2756700"/>
            <a:ext cx="429260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0718" y="3415504"/>
            <a:ext cx="3428107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82852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244" y="2057400"/>
            <a:ext cx="3428107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4971" y="2057401"/>
            <a:ext cx="464699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2645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47" y="1031916"/>
            <a:ext cx="3967463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8695" y="1001865"/>
            <a:ext cx="6414509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5781" y="6029868"/>
            <a:ext cx="1179269" cy="365125"/>
          </a:xfrm>
        </p:spPr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8993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338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7765" y="0"/>
            <a:ext cx="7389475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2828" y="1367623"/>
            <a:ext cx="7926941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09008" y="6210300"/>
            <a:ext cx="769419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6648" y="6029869"/>
            <a:ext cx="202401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5781" y="6029869"/>
            <a:ext cx="1179269" cy="365125"/>
          </a:xfrm>
        </p:spPr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4337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4971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2000" y="0"/>
            <a:ext cx="4384339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3479" y="1965281"/>
            <a:ext cx="4858726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5879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47" y="499475"/>
            <a:ext cx="3624498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274" y="2124222"/>
            <a:ext cx="3566475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9351" y="0"/>
            <a:ext cx="7389475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5781" y="6029869"/>
            <a:ext cx="1179269" cy="365125"/>
          </a:xfrm>
        </p:spPr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5279" y="6029869"/>
            <a:ext cx="4292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8270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47" y="430047"/>
            <a:ext cx="4937719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274" y="1746792"/>
            <a:ext cx="5775392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89475" y="0"/>
            <a:ext cx="479935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5781" y="6029869"/>
            <a:ext cx="1179269" cy="365125"/>
          </a:xfrm>
        </p:spPr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5279" y="6029869"/>
            <a:ext cx="4292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71870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655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516" y="1"/>
            <a:ext cx="4141751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9998" y="2112973"/>
            <a:ext cx="3150269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714" y="6029869"/>
            <a:ext cx="1910598" cy="365125"/>
          </a:xfrm>
          <a:noFill/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48313" y="6029869"/>
            <a:ext cx="889845" cy="365125"/>
          </a:xfrm>
          <a:noFill/>
        </p:spPr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7818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88825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47" y="1001376"/>
            <a:ext cx="3600184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347" y="2496848"/>
            <a:ext cx="3600184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347" y="503238"/>
            <a:ext cx="1907302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347" y="4800601"/>
            <a:ext cx="1256411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6613" y="4800601"/>
            <a:ext cx="429260" cy="365125"/>
          </a:xfrm>
          <a:noFill/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27980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47" y="4673956"/>
            <a:ext cx="3153858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88824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29" y="4647061"/>
            <a:ext cx="7550147" cy="1382807"/>
          </a:xfrm>
        </p:spPr>
        <p:txBody>
          <a:bodyPr/>
          <a:lstStyle>
            <a:lvl1pPr marL="0" indent="0">
              <a:buNone/>
              <a:defRPr/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5781" y="6029869"/>
            <a:ext cx="1179269" cy="365125"/>
          </a:xfrm>
          <a:noFill/>
        </p:spPr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616" y="6029869"/>
            <a:ext cx="429260" cy="365125"/>
          </a:xfrm>
          <a:noFill/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87520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48" y="337063"/>
            <a:ext cx="6786130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2941" y="637707"/>
            <a:ext cx="1907302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89477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4089" y="1266738"/>
            <a:ext cx="2894041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99709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06088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935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825" y="4374100"/>
            <a:ext cx="3896890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112" y="685801"/>
            <a:ext cx="5429470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817" y="6029867"/>
            <a:ext cx="1910598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5781" y="6029869"/>
            <a:ext cx="1179269" cy="365125"/>
          </a:xfrm>
          <a:solidFill>
            <a:schemeClr val="bg1"/>
          </a:solidFill>
        </p:spPr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7362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349" y="5149122"/>
            <a:ext cx="6859320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083" y="120765"/>
            <a:ext cx="10720208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7992" spc="-200" baseline="0">
                <a:solidFill>
                  <a:schemeClr val="accent3"/>
                </a:solidFill>
                <a:latin typeface="+mj-lt"/>
              </a:defRPr>
            </a:lvl1pPr>
            <a:lvl2pPr marL="457063" indent="0">
              <a:buNone/>
              <a:defRPr/>
            </a:lvl2pPr>
            <a:lvl3pPr marL="914126" indent="0">
              <a:buNone/>
              <a:defRPr/>
            </a:lvl3pPr>
            <a:lvl4pPr marL="1371189" indent="0">
              <a:buNone/>
              <a:defRPr/>
            </a:lvl4pPr>
            <a:lvl5pPr marL="1828251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274" y="6029868"/>
            <a:ext cx="2137212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0598" y="675862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710572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88825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74" y="-785191"/>
            <a:ext cx="1097827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842" y="1649896"/>
            <a:ext cx="10167273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198" cap="all" spc="-100" baseline="0">
                <a:solidFill>
                  <a:schemeClr val="accent1"/>
                </a:solidFill>
                <a:latin typeface="+mj-lt"/>
              </a:defRPr>
            </a:lvl1pPr>
            <a:lvl2pPr marL="457063" indent="0">
              <a:lnSpc>
                <a:spcPct val="80000"/>
              </a:lnSpc>
              <a:buNone/>
              <a:defRPr sz="7198" cap="all" baseline="0">
                <a:solidFill>
                  <a:schemeClr val="bg1"/>
                </a:solidFill>
                <a:latin typeface="+mj-lt"/>
              </a:defRPr>
            </a:lvl2pPr>
            <a:lvl3pPr marL="914126" indent="0">
              <a:lnSpc>
                <a:spcPct val="80000"/>
              </a:lnSpc>
              <a:buNone/>
              <a:defRPr sz="7198" cap="all" baseline="0">
                <a:solidFill>
                  <a:schemeClr val="bg1"/>
                </a:solidFill>
                <a:latin typeface="+mj-lt"/>
              </a:defRPr>
            </a:lvl3pPr>
            <a:lvl4pPr marL="1371189" indent="0">
              <a:lnSpc>
                <a:spcPct val="80000"/>
              </a:lnSpc>
              <a:buNone/>
              <a:defRPr sz="6598" cap="all" baseline="0">
                <a:solidFill>
                  <a:schemeClr val="bg1"/>
                </a:solidFill>
                <a:latin typeface="+mj-lt"/>
              </a:defRPr>
            </a:lvl4pPr>
            <a:lvl5pPr marL="1828251" indent="0">
              <a:lnSpc>
                <a:spcPct val="80000"/>
              </a:lnSpc>
              <a:buNone/>
              <a:defRPr sz="6598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056" y="685800"/>
            <a:ext cx="10324068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274" y="501228"/>
            <a:ext cx="190730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97880" y="501228"/>
            <a:ext cx="1256411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291" y="501228"/>
            <a:ext cx="429260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55792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"/>
            <a:ext cx="12188824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0718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239" y="6212437"/>
            <a:ext cx="10805797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3729" y="5410203"/>
            <a:ext cx="7541835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1999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347" y="725556"/>
            <a:ext cx="8842993" cy="3656168"/>
          </a:xfrm>
        </p:spPr>
        <p:txBody>
          <a:bodyPr>
            <a:normAutofit/>
          </a:bodyPr>
          <a:lstStyle>
            <a:lvl1pPr marL="228531" indent="-228531">
              <a:lnSpc>
                <a:spcPct val="85000"/>
              </a:lnSpc>
              <a:spcBef>
                <a:spcPts val="0"/>
              </a:spcBef>
              <a:buNone/>
              <a:defRPr sz="5798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272" y="6029869"/>
            <a:ext cx="191059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815" y="6029869"/>
            <a:ext cx="1435234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851499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47" y="521186"/>
            <a:ext cx="10899857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273" y="1756231"/>
            <a:ext cx="5180251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2953" y="1756231"/>
            <a:ext cx="5180251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99260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47" y="521206"/>
            <a:ext cx="10896810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274" y="1631076"/>
            <a:ext cx="5156444" cy="709394"/>
          </a:xfrm>
        </p:spPr>
        <p:txBody>
          <a:bodyPr anchor="b">
            <a:normAutofit/>
          </a:bodyPr>
          <a:lstStyle>
            <a:lvl1pPr marL="0" indent="0">
              <a:buNone/>
              <a:defRPr sz="1799" b="1" cap="all" spc="50" baseline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74" y="2372147"/>
            <a:ext cx="5156444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953" y="1631077"/>
            <a:ext cx="5181838" cy="709393"/>
          </a:xfrm>
        </p:spPr>
        <p:txBody>
          <a:bodyPr anchor="b">
            <a:normAutofit/>
          </a:bodyPr>
          <a:lstStyle>
            <a:lvl1pPr marL="0" indent="0">
              <a:buNone/>
              <a:defRPr sz="1799" b="1" cap="all" spc="50" baseline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953" y="2372146"/>
            <a:ext cx="518183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88769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47" y="265176"/>
            <a:ext cx="11026051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05E5D-68FD-447C-A2DD-5EC26B56527F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18993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29607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6864" y="3084660"/>
            <a:ext cx="10131317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68" y="182881"/>
            <a:ext cx="8614440" cy="1874520"/>
          </a:xfrm>
          <a:noFill/>
        </p:spPr>
        <p:txBody>
          <a:bodyPr anchor="t">
            <a:normAutofit/>
          </a:bodyPr>
          <a:lstStyle>
            <a:lvl1pPr>
              <a:defRPr sz="9597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1060" y="617924"/>
            <a:ext cx="1866411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170" y="3544866"/>
            <a:ext cx="8988381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799"/>
            </a:lvl1pPr>
            <a:lvl2pPr marL="457063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126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189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251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170" y="6024817"/>
            <a:ext cx="1809024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18564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8433880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622" y="4564627"/>
            <a:ext cx="506669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28" y="530940"/>
            <a:ext cx="7701570" cy="1308290"/>
          </a:xfrm>
          <a:noFill/>
        </p:spPr>
        <p:txBody>
          <a:bodyPr anchor="t">
            <a:normAutofit/>
          </a:bodyPr>
          <a:lstStyle>
            <a:lvl1pPr>
              <a:defRPr sz="7998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433" y="3571531"/>
            <a:ext cx="5008229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799"/>
            </a:lvl1pPr>
            <a:lvl2pPr marL="457063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126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189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251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272" y="6029867"/>
            <a:ext cx="1910598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6768" y="6029868"/>
            <a:ext cx="1441391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540585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007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239" y="6212437"/>
            <a:ext cx="10805797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48" y="351270"/>
            <a:ext cx="1097827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274" y="1745957"/>
            <a:ext cx="1097827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272" y="6029869"/>
            <a:ext cx="1910598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5781" y="6029869"/>
            <a:ext cx="1182378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35F68458-1A7A-4A29-A16B-4424C6D3B5E6}" type="datetime1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09" y="6029869"/>
            <a:ext cx="42926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03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  <p:sldLayoutId id="2147483954" r:id="rId18"/>
    <p:sldLayoutId id="2147483955" r:id="rId19"/>
    <p:sldLayoutId id="2147483956" r:id="rId20"/>
    <p:sldLayoutId id="2147483957" r:id="rId21"/>
    <p:sldLayoutId id="2147483958" r:id="rId22"/>
    <p:sldLayoutId id="2147483959" r:id="rId23"/>
    <p:sldLayoutId id="2147483960" r:id="rId24"/>
    <p:sldLayoutId id="2147483961" r:id="rId25"/>
    <p:sldLayoutId id="2147483962" r:id="rId26"/>
    <p:sldLayoutId id="2147483963" r:id="rId27"/>
    <p:sldLayoutId id="2147483964" r:id="rId28"/>
  </p:sldLayoutIdLst>
  <p:hf sldNum="0" hdr="0" ftr="0" dt="0"/>
  <p:txStyles>
    <p:titleStyle>
      <a:lvl1pPr marL="0" algn="l" defTabSz="914126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799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91440"/>
            <a:ext cx="12188825" cy="32004"/>
          </a:xfrm>
          <a:prstGeom prst="rect">
            <a:avLst/>
          </a:prstGeom>
          <a:solidFill>
            <a:srgbClr val="2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825" cy="91440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300446" y="272882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(SIH26068).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7385" y="1480668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GPT-Conversational AI for Weather Forecasting, Alerts, and Climate Information 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901159" y="316773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8" name="Picture 7" descr="Saveetha Institute of Medical and Technical Sciences Engineering Fests,  Symposiums in Chennai from August 2026 Technical, Cultural, Management,  Sports, Conferences, Seminars">
            <a:extLst>
              <a:ext uri="{FF2B5EF4-FFF2-40B4-BE49-F238E27FC236}">
                <a16:creationId xmlns:a16="http://schemas.microsoft.com/office/drawing/2014/main" id="{568512D6-D31D-6F3B-FE29-58575B89C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600" y="434337"/>
            <a:ext cx="7620016" cy="9814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D5C192-5E92-E93F-3CA4-A1CFD899701B}"/>
              </a:ext>
            </a:extLst>
          </p:cNvPr>
          <p:cNvSpPr txBox="1"/>
          <p:nvPr/>
        </p:nvSpPr>
        <p:spPr>
          <a:xfrm>
            <a:off x="2649233" y="3396336"/>
            <a:ext cx="62241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: Software Engineering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CSA1002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by: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Kondreddi Bhuvan -192420044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91440"/>
            <a:ext cx="12188825" cy="32004"/>
          </a:xfrm>
          <a:prstGeom prst="rect">
            <a:avLst/>
          </a:prstGeom>
          <a:solidFill>
            <a:srgbClr val="2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825" cy="91440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38757" y="2057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2800" b="1" i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  <a:endParaRPr 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BFBFB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6370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Weather data is currently fragmented across multiple portals and bulletins. It lacks a conversational interface, making it difficult for common users and agencies to quickly find actionable insights in their preferred language.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real-time, accurate weather intelligence.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natural language and voice-based querying.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directly with forecasting models (GFS/WRF).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mobile-based AI platform handling real-time data ingestion, multilingual support, location-based alerts, and historical climate analysis.</a:t>
            </a:r>
          </a:p>
        </p:txBody>
      </p:sp>
      <p:pic>
        <p:nvPicPr>
          <p:cNvPr id="7" name="Picture 6" descr="Extreme rain is damaging crops in India and farmers' income - Global Center on Adaptation">
            <a:extLst>
              <a:ext uri="{FF2B5EF4-FFF2-40B4-BE49-F238E27FC236}">
                <a16:creationId xmlns:a16="http://schemas.microsoft.com/office/drawing/2014/main" id="{80D552F0-43C9-E15C-D394-C2CBA053C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1431036"/>
            <a:ext cx="5086985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91440"/>
            <a:ext cx="12188825" cy="32004"/>
          </a:xfrm>
          <a:prstGeom prst="rect">
            <a:avLst/>
          </a:prstGeom>
          <a:solidFill>
            <a:srgbClr val="2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825" cy="91440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BB559E-E0DF-3489-2F50-AD82B60402E3}"/>
              </a:ext>
            </a:extLst>
          </p:cNvPr>
          <p:cNvSpPr txBox="1"/>
          <p:nvPr/>
        </p:nvSpPr>
        <p:spPr>
          <a:xfrm>
            <a:off x="3001314" y="419878"/>
            <a:ext cx="61861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Stakeholders &amp; Roles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B2C96-A7EB-9290-CA96-C2F4A5D77E3B}"/>
              </a:ext>
            </a:extLst>
          </p:cNvPr>
          <p:cNvSpPr txBox="1"/>
          <p:nvPr/>
        </p:nvSpPr>
        <p:spPr>
          <a:xfrm>
            <a:off x="1017035" y="1258390"/>
            <a:ext cx="987178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crop-weather advisories to manage agricultural activities.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Managers: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flood and cyclone warnings for immediate response planning.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Aviation/Marine Sectors: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real-time weather briefings for route safety.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Public: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Seek daily, location-based forecasts and early warnings.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Researchers/Urban Planners: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Utilize climate analytics for long-term planning.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080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91440"/>
            <a:ext cx="12188825" cy="32004"/>
          </a:xfrm>
          <a:prstGeom prst="rect">
            <a:avLst/>
          </a:prstGeom>
          <a:solidFill>
            <a:srgbClr val="2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825" cy="91440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2292" y="2057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i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I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Challenges</a:t>
            </a:r>
            <a:endParaRPr 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Rural populations struggle with complex interfaces and English-only bulletins.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Delays in parsing manual alerts slow down emergency responses.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struggle to extract specific, contextual data from broad datasets.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Divide: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voice-enabled, vernacular tools excludes low-literacy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91440"/>
            <a:ext cx="12188825" cy="32004"/>
          </a:xfrm>
          <a:prstGeom prst="rect">
            <a:avLst/>
          </a:prstGeom>
          <a:solidFill>
            <a:srgbClr val="2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825" cy="91440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2292" y="2057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i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I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 Analysis</a:t>
            </a:r>
            <a:endParaRPr 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2292" y="965252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Approach: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Relies on disparate websites, technical bulletins, and satellite imagery portals (e.g., IMD websites).</a:t>
            </a:r>
          </a:p>
          <a:p>
            <a:pPr lvl="0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Backed by robust forecasting models (NWP) and massive datasets. Highly accurate underlying data.</a:t>
            </a:r>
          </a:p>
          <a:p>
            <a:pPr lvl="0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Scattered information requires users to navigate multiple sources.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Rigid, non-interactive interfaces.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conversational or contextual translation of raw data.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Gap: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missing intelligent layer to translate raw meteorological data into accessible, localized, and actionable dialogue.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91440"/>
            <a:ext cx="12188825" cy="32004"/>
          </a:xfrm>
          <a:prstGeom prst="rect">
            <a:avLst/>
          </a:prstGeom>
          <a:solidFill>
            <a:srgbClr val="2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88825" cy="91440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98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i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I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Software Solution</a:t>
            </a:r>
            <a:endParaRPr 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4AF56-E341-A0DB-3D2F-61E03BFBE576}"/>
              </a:ext>
            </a:extLst>
          </p:cNvPr>
          <p:cNvSpPr txBox="1"/>
          <p:nvPr/>
        </p:nvSpPr>
        <p:spPr>
          <a:xfrm>
            <a:off x="946484" y="1441146"/>
            <a:ext cx="58555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"Weather GPT" - A mobile AI platform using LLMs (e.g., Llama, Gemini) and a NLP query engine to interpret user requests.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Modules: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Interface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Text and voice input (Bhashini/AI4Bharat integration).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Query Engine: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natural language into API calls.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Layer: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to NWP models, GIS, and databases (PostgreSQL/MongoDB).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Dissemination: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notifications for extreme weather.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AC0F21-EC25-BCBD-95AD-99F0707D1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859" y="1001388"/>
            <a:ext cx="5358284" cy="52026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91440"/>
            <a:ext cx="12188825" cy="32004"/>
          </a:xfrm>
          <a:prstGeom prst="rect">
            <a:avLst/>
          </a:prstGeom>
          <a:solidFill>
            <a:srgbClr val="2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825" cy="91440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i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I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Principles Applied</a:t>
            </a:r>
            <a:endParaRPr 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Distinct microservices for the chatbot UI, LLM processing, and weather API integration.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Containerized deployment (Docker/Kubernetes) to handle massive traffic spikes during extreme weather events.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Voice-first design for rural accessibility.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availability architecture ensuring continuous uptime during disasters.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91440"/>
            <a:ext cx="12188825" cy="32004"/>
          </a:xfrm>
          <a:prstGeom prst="rect">
            <a:avLst/>
          </a:prstGeom>
          <a:solidFill>
            <a:srgbClr val="2E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825" cy="91440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75945" y="310989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600" b="1" i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I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of Methodology</a:t>
            </a:r>
            <a:endParaRPr 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5840" y="1103065"/>
            <a:ext cx="5740903" cy="505989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Framework: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Scrum Methodology.</a:t>
            </a:r>
          </a:p>
          <a:p>
            <a:pPr lvl="0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Development: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for rapid prototyping of the AI model and continuous tuning based on user feedback.</a:t>
            </a:r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Accommodates the rapid evolution of underlying LLM technologies.</a:t>
            </a:r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Delivery: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frequent updates for new language models or API integrations without system downtime.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79" y="5923819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E0B0A0-71D0-BF0C-4B19-D1101F470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163" y="1042509"/>
            <a:ext cx="5044877" cy="51204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1872</TotalTime>
  <Words>565</Words>
  <Application>Microsoft Office PowerPoint</Application>
  <PresentationFormat>Custom</PresentationFormat>
  <Paragraphs>83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Oswald SemiBold</vt:lpstr>
      <vt:lpstr>Times New Roman</vt:lpstr>
      <vt:lpstr>Univers Condensed Light</vt:lpstr>
      <vt:lpstr>Wingdings</vt:lpstr>
      <vt:lpstr>Orange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Bhuvan Kondreddi</cp:lastModifiedBy>
  <cp:revision>10</cp:revision>
  <dcterms:created xsi:type="dcterms:W3CDTF">2026-08-27T08:37:07Z</dcterms:created>
  <dcterms:modified xsi:type="dcterms:W3CDTF">2026-10-13T03:29:20Z</dcterms:modified>
</cp:coreProperties>
</file>